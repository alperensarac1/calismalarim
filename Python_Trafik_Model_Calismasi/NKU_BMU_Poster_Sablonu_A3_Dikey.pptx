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1813" cy="15119350"/>
  <p:notesSz cx="10021888" cy="68897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2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138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911" tIns="29956" rIns="59911" bIns="29956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9911" tIns="29956" rIns="59911" bIns="29956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2079" cy="1920240"/>
          </a:xfrm>
          <a:prstGeom prst="rect">
            <a:avLst/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1856232"/>
            <a:ext cx="10692079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ÜNİVERSİTE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LOGOSU 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091879" y="164592"/>
            <a:ext cx="1325880" cy="1463040"/>
          </a:xfrm>
          <a:prstGeom prst="rect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9091879" y="164592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QR KOD</a:t>
            </a:r>
            <a:endParaRPr lang="en-US" sz="800" dirty="0"/>
          </a:p>
          <a:p>
            <a:pPr marL="0" indent="0" algn="ctr">
              <a:buNone/>
            </a:pPr>
            <a:r>
              <a:rPr lang="tr-TR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sayfası linki, </a:t>
            </a:r>
            <a:r>
              <a:rPr lang="tr-TR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tr-TR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linki vb.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37360" y="128016"/>
            <a:ext cx="72173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T.C. TEKİRDAĞ NAMIK KEMAL ÜNİVERSİTESİ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411480"/>
            <a:ext cx="7217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Çorlu Mühendislik Fakültesi – Bilgisayar Mühendisliği Bölümü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640080"/>
            <a:ext cx="7217359" cy="62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Başlığı: Araştırmanızın Tam Adını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Buraya Açık Şekilde Yazınız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1088136"/>
            <a:ext cx="7217359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SOYAD¹  ·  Ad SOYAD²  ·  Ad SOYAD³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1349881"/>
            <a:ext cx="7217359" cy="451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¹Tekirdağ Namık Kemal Üniversitesi   ²[Ortak </a:t>
            </a:r>
            <a:r>
              <a:rPr lang="en-US" sz="900" dirty="0" err="1">
                <a:solidFill>
                  <a:srgbClr val="AA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</a:t>
            </a:r>
            <a:r>
              <a:rPr lang="en-US" sz="900" dirty="0">
                <a:solidFill>
                  <a:srgbClr val="AA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tr-TR" sz="900" dirty="0">
              <a:solidFill>
                <a:srgbClr val="AACB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tr-TR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 Öğretim Üyesi: 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130552"/>
            <a:ext cx="4989424" cy="237545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4989424" cy="3108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tr-TR" sz="2000"/>
          </a:p>
        </p:txBody>
      </p:sp>
      <p:sp>
        <p:nvSpPr>
          <p:cNvPr id="15" name="Text 13"/>
          <p:cNvSpPr/>
          <p:nvPr/>
        </p:nvSpPr>
        <p:spPr>
          <a:xfrm>
            <a:off x="384048" y="21214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ÖZET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02336" y="2468880"/>
            <a:ext cx="473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poster, [araştırma konusu] üzerine gerçekleştirilen bilimsel çalışmanın bulgularını sunmaktadır. [Yöntem/yaklaşım] kullanılarak [veri kümesi/sistem] üzerinde kapsamlı deneyler yürütülmüştür.
[Önerilen yaklaşım], literatürdeki mevcut yöntemlere kıyasla [iyileştirme] sağlamaktadır. Bu çalışma [uygulama alanı] için pratik bir çözüm sunmaktadır.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4598669"/>
            <a:ext cx="4989424" cy="1624966"/>
          </a:xfrm>
          <a:prstGeom prst="rect">
            <a:avLst/>
          </a:prstGeom>
          <a:solidFill>
            <a:srgbClr val="FFFFFF"/>
          </a:solidFill>
          <a:ln w="10160">
            <a:solidFill>
              <a:srgbClr val="C8D9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274320" y="4598670"/>
            <a:ext cx="4989424" cy="310896"/>
          </a:xfrm>
          <a:prstGeom prst="rect">
            <a:avLst/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84048" y="461695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GİRİŞ VE MOTİVASYON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02336" y="4964429"/>
            <a:ext cx="4733392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[Araştırma problemini] tanımlayan cümle.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yöntemlerin [kısıtlamaları / eksiklikleri].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 çalışmanın [amacı ve katkısı].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alanı ve pratik önemi.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6333363"/>
            <a:ext cx="4989424" cy="1259205"/>
          </a:xfrm>
          <a:prstGeom prst="rect">
            <a:avLst/>
          </a:prstGeom>
          <a:solidFill>
            <a:srgbClr val="FFFFFF"/>
          </a:solidFill>
          <a:ln w="10160">
            <a:solidFill>
              <a:srgbClr val="C8D9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274320" y="6333363"/>
            <a:ext cx="4989424" cy="310896"/>
          </a:xfrm>
          <a:prstGeom prst="rect">
            <a:avLst/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84048" y="6351651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İLGİLİ ÇALIŞMALAR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02336" y="6699123"/>
            <a:ext cx="4733392" cy="86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[Yazar vd., YIL]: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[Yöntem] → [metrik] başarı.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[Yazar vd., YIL]: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[Mimari] ile [sonuç] elde edilmiştir.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[Yazar vd., YIL]: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[Konu] üzerine [yaklaşım] önerilmiştir.
</a:t>
            </a: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Boşluğu: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çalışma söz konusu eksikliği [önerilen yöntemle] gidermektedir.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7702296"/>
            <a:ext cx="4989424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8D9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274320" y="7702296"/>
            <a:ext cx="4989424" cy="310896"/>
          </a:xfrm>
          <a:prstGeom prst="rect">
            <a:avLst/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tr-TR" sz="3200"/>
          </a:p>
        </p:txBody>
      </p:sp>
      <p:sp>
        <p:nvSpPr>
          <p:cNvPr id="27" name="Text 25"/>
          <p:cNvSpPr/>
          <p:nvPr/>
        </p:nvSpPr>
        <p:spPr>
          <a:xfrm>
            <a:off x="384048" y="7720584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VERİ KÜMESİ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02336" y="8068056"/>
            <a:ext cx="473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Kümesi: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[Ad / Kaynak / URL]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Örnek: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görüntü / kayıt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Sayısı: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 sınıf (Sınıf1, Sınıf2, …)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Bölme: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%70 Eğitim / %10 Doğrulama / %20 Test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İşlem: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Yeniden boyutlandırma, normalizasyon, veri artırma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9384876"/>
            <a:ext cx="4989424" cy="274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8D9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274320" y="8981313"/>
            <a:ext cx="4989424" cy="310896"/>
          </a:xfrm>
          <a:prstGeom prst="rect">
            <a:avLst/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84048" y="8999601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VERİ DAĞILIMI / ÖRNEK GÖRSELLER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02336" y="9544896"/>
            <a:ext cx="4733392" cy="2474892"/>
          </a:xfrm>
          <a:prstGeom prst="rect">
            <a:avLst/>
          </a:prstGeom>
          <a:solidFill>
            <a:srgbClr val="F0F5FB"/>
          </a:solidFill>
          <a:ln w="7620">
            <a:solidFill>
              <a:srgbClr val="C8D9EF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345946" y="10136124"/>
            <a:ext cx="473339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Grafik / Sınıf Dağılımı / Örnek Görüntüler 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12577572"/>
            <a:ext cx="4989424" cy="1938528"/>
          </a:xfrm>
          <a:prstGeom prst="rect">
            <a:avLst/>
          </a:prstGeom>
          <a:solidFill>
            <a:srgbClr val="FFFFFF"/>
          </a:solidFill>
          <a:ln w="10160">
            <a:solidFill>
              <a:srgbClr val="C8D9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274320" y="12252198"/>
            <a:ext cx="4989424" cy="310896"/>
          </a:xfrm>
          <a:prstGeom prst="rect">
            <a:avLst/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384048" y="1227048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DENEYSEL KURULUM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02336" y="12612708"/>
            <a:ext cx="4733392" cy="181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[GPU/CPU, RAM]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Çerçeve: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PyTorch [sürüm], Python [sürüm]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[Epoch] döngü, batch [boyut], LR = [değer]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[AdamW / SGD / …], scheduler = [politika]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Accuracy, F1-Score, AUC-ROC, Precision, Recall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k-Katlı: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[k=5 çapraz doğrulama / hold-out split]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Artırma: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Döndürme, yatay çevirme, parlaklık, kırpma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28336" y="2103120"/>
            <a:ext cx="4989424" cy="2807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5428336" y="2103120"/>
            <a:ext cx="4989424" cy="3108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40" name="Text 38"/>
          <p:cNvSpPr/>
          <p:nvPr/>
        </p:nvSpPr>
        <p:spPr>
          <a:xfrm>
            <a:off x="5538064" y="21214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ÖNERİLEN YÖNTEM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556352" y="2468880"/>
            <a:ext cx="473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</a:t>
            </a:r>
            <a:r>
              <a:rPr lang="en-US" sz="8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Akış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Diyagramı</a:t>
            </a:r>
            <a:r>
              <a:rPr lang="tr-TR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|| </a:t>
            </a:r>
            <a:r>
              <a:rPr lang="tr-TR" sz="8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r>
              <a:rPr lang="tr-TR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|| Yöntem Detayları ||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Çubuk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Confusion Matrix </a:t>
            </a:r>
            <a:r>
              <a:rPr lang="tr-TR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ROC </a:t>
            </a:r>
            <a:r>
              <a:rPr lang="en-US" sz="8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Eğrisi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Grad-CAM </a:t>
            </a:r>
            <a:r>
              <a:rPr lang="tr-TR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vb.</a:t>
            </a: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 –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[Ön İşleme: giriş verisi hazırlama]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2 –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[Özellik Çıkarımı: omurga / mimari adı]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3 –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[Sınıflandırma başlığı ve kayıp fonksiyonu]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4 –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[Son Karar: eşik / post-processing / ensemble]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28336" y="5430393"/>
            <a:ext cx="4989424" cy="2387727"/>
          </a:xfrm>
          <a:prstGeom prst="rect">
            <a:avLst/>
          </a:prstGeom>
          <a:solidFill>
            <a:srgbClr val="FFFFFF"/>
          </a:solidFill>
          <a:ln w="10160">
            <a:solidFill>
              <a:srgbClr val="C8D9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5428336" y="5046345"/>
            <a:ext cx="4989424" cy="3108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5538064" y="5064633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r>
              <a:rPr lang="tr-TR" sz="20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DENEYSEL </a:t>
            </a:r>
            <a:r>
              <a:rPr lang="en-US" sz="20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2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576636"/>
              </p:ext>
            </p:extLst>
          </p:nvPr>
        </p:nvGraphicFramePr>
        <p:xfrm>
          <a:off x="5556352" y="5518404"/>
          <a:ext cx="4733391" cy="1107568"/>
        </p:xfrm>
        <a:graphic>
          <a:graphicData uri="http://schemas.openxmlformats.org/drawingml/2006/table">
            <a:tbl>
              <a:tblPr/>
              <a:tblGrid>
                <a:gridCol w="1798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4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Doğruluk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F1-Skoru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 A (baseline)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 B (literature)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3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Önerilen (Ours)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3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3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3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Shape 48"/>
          <p:cNvSpPr/>
          <p:nvPr/>
        </p:nvSpPr>
        <p:spPr>
          <a:xfrm>
            <a:off x="5428336" y="7955280"/>
            <a:ext cx="4989424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8D9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2" name="Shape 49"/>
          <p:cNvSpPr/>
          <p:nvPr/>
        </p:nvSpPr>
        <p:spPr>
          <a:xfrm>
            <a:off x="5428336" y="7955280"/>
            <a:ext cx="4989424" cy="310896"/>
          </a:xfrm>
          <a:prstGeom prst="rect">
            <a:avLst/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0"/>
          <p:cNvSpPr/>
          <p:nvPr/>
        </p:nvSpPr>
        <p:spPr>
          <a:xfrm>
            <a:off x="5538064" y="797356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GRAFİ</a:t>
            </a:r>
            <a:r>
              <a:rPr lang="tr-T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KLER || GÖRSELLER </a:t>
            </a:r>
            <a:endParaRPr lang="en-US" sz="2000" dirty="0"/>
          </a:p>
        </p:txBody>
      </p:sp>
      <p:sp>
        <p:nvSpPr>
          <p:cNvPr id="54" name="Shape 51"/>
          <p:cNvSpPr/>
          <p:nvPr/>
        </p:nvSpPr>
        <p:spPr>
          <a:xfrm>
            <a:off x="5556352" y="8339328"/>
            <a:ext cx="4733392" cy="1335024"/>
          </a:xfrm>
          <a:prstGeom prst="rect">
            <a:avLst/>
          </a:prstGeom>
          <a:solidFill>
            <a:srgbClr val="F0F5FB"/>
          </a:solidFill>
          <a:ln w="7620">
            <a:solidFill>
              <a:srgbClr val="C8D9EF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2"/>
          <p:cNvSpPr/>
          <p:nvPr/>
        </p:nvSpPr>
        <p:spPr>
          <a:xfrm>
            <a:off x="5556352" y="8339328"/>
            <a:ext cx="473339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Çubuk Grafik / Confusion Matrix / ROC Eğrisi / Grad-CAM ]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428336" y="9921240"/>
            <a:ext cx="4989424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8D9E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7" name="Shape 54"/>
          <p:cNvSpPr/>
          <p:nvPr/>
        </p:nvSpPr>
        <p:spPr>
          <a:xfrm>
            <a:off x="5428336" y="9921240"/>
            <a:ext cx="4989424" cy="310896"/>
          </a:xfrm>
          <a:prstGeom prst="rect">
            <a:avLst/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5"/>
          <p:cNvSpPr/>
          <p:nvPr/>
        </p:nvSpPr>
        <p:spPr>
          <a:xfrm>
            <a:off x="5538064" y="993952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TARTIŞMA</a:t>
            </a:r>
            <a:endParaRPr lang="en-US" sz="2000" dirty="0"/>
          </a:p>
        </p:txBody>
      </p:sp>
      <p:sp>
        <p:nvSpPr>
          <p:cNvPr id="59" name="Text 56"/>
          <p:cNvSpPr/>
          <p:nvPr/>
        </p:nvSpPr>
        <p:spPr>
          <a:xfrm>
            <a:off x="5556352" y="10287000"/>
            <a:ext cx="473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 modelin literatüre kıyasla üstünlükleri.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[Bileşen / hiperparametre] en yüksek katkıyı sağlamıştır.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Başarısızlık durumları ve analiz.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Yöntemin diğer alanlara aktarılabilirliği.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5428336" y="11384280"/>
            <a:ext cx="4989424" cy="31318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1" name="Shape 58"/>
          <p:cNvSpPr/>
          <p:nvPr/>
        </p:nvSpPr>
        <p:spPr>
          <a:xfrm>
            <a:off x="5428336" y="11384280"/>
            <a:ext cx="4989424" cy="3108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59"/>
          <p:cNvSpPr/>
          <p:nvPr/>
        </p:nvSpPr>
        <p:spPr>
          <a:xfrm>
            <a:off x="5538064" y="1140256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SONUÇ VE GELECEK ÇALIŞMA</a:t>
            </a:r>
            <a:endParaRPr lang="en-US" sz="2000" dirty="0"/>
          </a:p>
        </p:txBody>
      </p:sp>
      <p:sp>
        <p:nvSpPr>
          <p:cNvPr id="63" name="Text 60"/>
          <p:cNvSpPr/>
          <p:nvPr/>
        </p:nvSpPr>
        <p:spPr>
          <a:xfrm>
            <a:off x="5556352" y="11750040"/>
            <a:ext cx="4733392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[Temel bulgu 1]: [metrik] ile en iyi performans elde edilmiştir.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[Temel bulgu 2] farklı veri setlerine genellenebilir.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Çalışmalar:
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[Transformer / hibrit mimari] ile genişletilmesi.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büyük ve çok merkezli veri setleri üzerinde doğrulama.
</a:t>
            </a: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ortamda gerçek zamanlı uygulama.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0" y="14589252"/>
            <a:ext cx="10692079" cy="530352"/>
          </a:xfrm>
          <a:prstGeom prst="rect">
            <a:avLst/>
          </a:prstGeom>
          <a:solidFill>
            <a:srgbClr val="003B7A"/>
          </a:solidFill>
          <a:ln w="12700">
            <a:solidFill>
              <a:srgbClr val="003B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Shape 62"/>
          <p:cNvSpPr/>
          <p:nvPr/>
        </p:nvSpPr>
        <p:spPr>
          <a:xfrm>
            <a:off x="0" y="14589252"/>
            <a:ext cx="10692079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63"/>
          <p:cNvSpPr/>
          <p:nvPr/>
        </p:nvSpPr>
        <p:spPr>
          <a:xfrm>
            <a:off x="274320" y="14680692"/>
            <a:ext cx="59875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e-posta@nku.edu.tr  |  📍 Çorlu Mühendislik Fakültesi, Tekirdağ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4704515" y="14680692"/>
            <a:ext cx="56668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çalışma [TÜBİTAK / BAP / …] desteğiyle gerçekleştirilmiştir.  </a:t>
            </a:r>
            <a:endParaRPr lang="en-US" sz="750" dirty="0"/>
          </a:p>
        </p:txBody>
      </p:sp>
      <p:pic>
        <p:nvPicPr>
          <p:cNvPr id="69" name="Resim 68">
            <a:extLst>
              <a:ext uri="{FF2B5EF4-FFF2-40B4-BE49-F238E27FC236}">
                <a16:creationId xmlns:a16="http://schemas.microsoft.com/office/drawing/2014/main" id="{D93EC08A-43AB-7842-32F6-C04D32AE0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54" y="164591"/>
            <a:ext cx="1463306" cy="1508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648</Words>
  <Application>Microsoft Office PowerPoint</Application>
  <PresentationFormat>Özel</PresentationFormat>
  <Paragraphs>51</Paragraphs>
  <Slides>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NKÜ BMÜ Akademik Poster Şablonu – Dikey A3</dc:title>
  <dc:subject>PptxGenJS Presentation</dc:subject>
  <dc:creator>Doç. Dr. Ahmet Saygılı</dc:creator>
  <cp:lastModifiedBy>AHMET SAYGILI</cp:lastModifiedBy>
  <cp:revision>6</cp:revision>
  <dcterms:created xsi:type="dcterms:W3CDTF">2026-05-20T16:16:00Z</dcterms:created>
  <dcterms:modified xsi:type="dcterms:W3CDTF">2026-05-21T07:48:16Z</dcterms:modified>
</cp:coreProperties>
</file>